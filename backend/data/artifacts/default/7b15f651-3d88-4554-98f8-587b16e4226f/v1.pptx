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实际营收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120.0</c:v>
                </c:pt>
                <c:pt idx="1">
                  <c:v>145.0</c:v>
                </c:pt>
                <c:pt idx="2">
                  <c:v>168.0</c:v>
                </c:pt>
                <c:pt idx="3">
                  <c:v>192.0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目标营收</c:v>
                </c:pt>
              </c:strCache>
            </c:strRef>
          </c:tx>
          <c:spPr>
            <a:solidFill>
              <a:srgbClr val="60A5FA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110.0</c:v>
                </c:pt>
                <c:pt idx="1">
                  <c:v>135.0</c:v>
                </c:pt>
                <c:pt idx="2">
                  <c:v>160.0</c:v>
                </c:pt>
                <c:pt idx="3">
                  <c:v>180.0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4572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ALL HANDS ·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E7EAF3"/>
                </a:solidFill>
              </a:rPr>
              <a:t>产品战略与路线图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3A0B4"/>
                </a:solidFill>
              </a:rPr>
              <a:t>构建下一代智能协作平台 · 从愿景到落地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0B4"/>
                </a:solidFill>
              </a:rPr>
              <a:t>产品研发部 · 2025年6月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7EAF3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3A0B4"/>
                </a:solidFill>
              </a:rPr>
              <a:t>What we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92224"/>
            <a:ext cx="548640" cy="548640"/>
          </a:xfrm>
          <a:prstGeom prst="roundRect">
            <a:avLst>
              <a:gd name="adj" fmla="val 26666"/>
            </a:avLst>
          </a:prstGeom>
          <a:solidFill>
            <a:srgbClr val="13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222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92224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AF3"/>
                </a:solidFill>
              </a:rPr>
              <a:t>市场洞察与战略方向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05456"/>
            <a:ext cx="548640" cy="548640"/>
          </a:xfrm>
          <a:prstGeom prst="roundRect">
            <a:avLst>
              <a:gd name="adj" fmla="val 26666"/>
            </a:avLst>
          </a:prstGeom>
          <a:solidFill>
            <a:srgbClr val="13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0545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AF3"/>
                </a:solidFill>
              </a:rPr>
              <a:t>核心能力与产品架构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18688"/>
            <a:ext cx="548640" cy="548640"/>
          </a:xfrm>
          <a:prstGeom prst="roundRect">
            <a:avLst>
              <a:gd name="adj" fmla="val 26666"/>
            </a:avLst>
          </a:prstGeom>
          <a:solidFill>
            <a:srgbClr val="13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868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AF3"/>
                </a:solidFill>
              </a:rPr>
              <a:t>关键指标与增长数据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48640" cy="548640"/>
          </a:xfrm>
          <a:prstGeom prst="roundRect">
            <a:avLst>
              <a:gd name="adj" fmla="val 26666"/>
            </a:avLst>
          </a:prstGeom>
          <a:solidFill>
            <a:srgbClr val="13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7EAF3"/>
                </a:solidFill>
              </a:rPr>
              <a:t>下一步行动计划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7315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7EAF3"/>
                </a:solidFill>
              </a:rPr>
              <a:t>市场洞察与战略方向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3A0B4"/>
                </a:solidFill>
              </a:rPr>
              <a:t>抓住 AI 原生协作的结构性机遇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为什么是现在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3A0B4"/>
                </a:solidFill>
              </a:rPr>
              <a:t>企业协作正在经历从工具到智能体的范式转变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过去三年，全球协作软件市场规模年复合增长率达到 23%，但用户体验的瓶颈日益明显 — 信息过载、上下文切换、决策碎片化。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7EAF3"/>
                </a:solidFill>
              </a:rPr>
              <a:t>All Hands 的切入点：以 AI Agent 为枢纽，打通知识、沟通与执行链路，让团队从「管理信息」转向「创造价值」。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KPI 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3A0B4"/>
                </a:solidFill>
              </a:rPr>
              <a:t>数据截至 2025 年 5 月最后一个工作日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715768" cy="4023360"/>
          </a:xfrm>
          <a:prstGeom prst="roundRect">
            <a:avLst>
              <a:gd name="adj" fmla="val 8080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715768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0B4"/>
                </a:solidFill>
              </a:rPr>
              <a:t>月活跃用户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67128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7EAF3"/>
                </a:solidFill>
              </a:rPr>
              <a:t>12.4K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+18% MoM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37360"/>
            <a:ext cx="2715768" cy="4023360"/>
          </a:xfrm>
          <a:prstGeom prst="roundRect">
            <a:avLst>
              <a:gd name="adj" fmla="val 8080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737360"/>
            <a:ext cx="2715768" cy="54864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10312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0B4"/>
                </a:solidFill>
              </a:rPr>
              <a:t>转化率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51760"/>
            <a:ext cx="2167128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7EAF3"/>
                </a:solidFill>
              </a:rPr>
              <a:t>4.7%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502920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+0.6 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37360"/>
            <a:ext cx="2715768" cy="4023360"/>
          </a:xfrm>
          <a:prstGeom prst="roundRect">
            <a:avLst>
              <a:gd name="adj" fmla="val 8080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2715768" cy="54864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0B4"/>
                </a:solidFill>
              </a:rPr>
              <a:t>交付周期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2167128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7EAF3"/>
                </a:solidFill>
              </a:rPr>
              <a:t>3.2d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02920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−1.1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737360"/>
            <a:ext cx="2715768" cy="4023360"/>
          </a:xfrm>
          <a:prstGeom prst="roundRect">
            <a:avLst>
              <a:gd name="adj" fmla="val 8080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737360"/>
            <a:ext cx="2715768" cy="54864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210312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0B4"/>
                </a:solidFill>
              </a:rPr>
              <a:t>NPS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651760"/>
            <a:ext cx="2167128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7EAF3"/>
                </a:solidFill>
              </a:rPr>
              <a:t>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502920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+9 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7315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7EAF3"/>
                </a:solidFill>
              </a:rPr>
              <a:t>核心能力与产品架构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3A0B4"/>
                </a:solidFill>
              </a:rPr>
              <a:t>三层架构支撑智能协作闭环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7EAF3"/>
                </a:solidFill>
              </a:rPr>
              <a:t>自研 vs 集成 · 路线选择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5217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B82F6"/>
                </a:solidFill>
              </a:rPr>
              <a:t>方案 A · 全栈自研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核心引擎完全自主可控，技术护城河深。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研发周期长，首版交付需 6-8 个月。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长期维护成本高，但定制化能力无上限。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828800"/>
            <a:ext cx="5394960" cy="4206240"/>
          </a:xfrm>
          <a:prstGeom prst="roundRect">
            <a:avLst>
              <a:gd name="adj" fmla="val 5217"/>
            </a:avLst>
          </a:prstGeom>
          <a:solidFill>
            <a:srgbClr val="13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20116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60A5FA"/>
                </a:solidFill>
              </a:rPr>
              <a:t>方案 B · 核心自研 + 生态集成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6517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Agent 引擎自研，外围工具链通过 API 集成。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首版交付压缩至 3-4 个月，快速验证市场。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7EAF3"/>
                </a:solidFill>
              </a:rPr>
              <a:t>生态依赖是风险，但能借力成熟方案加速。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515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7315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7EAF3"/>
                </a:solidFill>
              </a:rPr>
              <a:t>关键指标与增长数据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3A0B4"/>
                </a:solidFill>
              </a:rPr>
              <a:t>Q1-Q4 营收趋势超越基准线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7EAF3"/>
                </a:solidFill>
              </a:rPr>
              <a:t>季度营收增长趋势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3A0B4"/>
                </a:solidFill>
              </a:rPr>
              <a:t>实际营收连续四个季度跑赢既定目标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920240"/>
          <a:ext cx="11064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1E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A5FA"/>
                </a:solidFill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E7EAF3"/>
                </a:solidFill>
              </a:rPr>
              <a:t>感谢。让我们一起推进下一步。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45720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3A0B4"/>
                </a:solidFill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7EAF3"/>
                </a:solidFill>
              </a:rPr>
              <a:t>1.  确定技术路线，6月15日前完成评审与决策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7EAF3"/>
                </a:solidFill>
              </a:rPr>
              <a:t>2.  组建核心攻坚小组 · 产品 + 工程 + 设计各 2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E7EAF3"/>
                </a:solidFill>
              </a:rPr>
              <a:t>3.  启动 MVP 开发 · 预计 8 周完成首轮迭代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0B4"/>
                </a:solidFill>
              </a:rPr>
              <a:t>产品研发部 · contact@allhands.ai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